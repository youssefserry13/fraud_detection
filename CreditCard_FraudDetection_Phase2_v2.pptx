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F3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F3C"/>
                </a:solidFill>
                <a:latin typeface="Arial"/>
              </a:rPr>
              <a:t>Class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7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3E3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Legitimate (99.83%)</c:v>
                  </c:pt>
                  <c:pt idx="1">
                    <c:v>Fraud (0.17%)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284315</c:v>
                </c:pt>
                <c:pt idx="1">
                  <c:v>492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7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$0–50</c:v>
                  </c:pt>
                  <c:pt idx="1">
                    <c:v>$51–200</c:v>
                  </c:pt>
                  <c:pt idx="2">
                    <c:v>$201–1K</c:v>
                  </c:pt>
                  <c:pt idx="3">
                    <c:v>$1K–5K</c:v>
                  </c:pt>
                  <c:pt idx="4">
                    <c:v>&gt;$5K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195000</c:v>
                </c:pt>
                <c:pt idx="1">
                  <c:v>62000</c:v>
                </c:pt>
                <c:pt idx="2">
                  <c:v>22000</c:v>
                </c:pt>
                <c:pt idx="3">
                  <c:v>5500</c:v>
                </c:pt>
                <c:pt idx="4">
                  <c:v>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7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0.9755</c:v>
                </c:pt>
                <c:pt idx="1">
                  <c:v>0.9989</c:v>
                </c:pt>
                <c:pt idx="2">
                  <c:v>0.9995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F0C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7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0.06</c:v>
                </c:pt>
                <c:pt idx="1">
                  <c:v>0.68</c:v>
                </c:pt>
                <c:pt idx="2">
                  <c:v>0.96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7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0.92</c:v>
                </c:pt>
                <c:pt idx="1">
                  <c:v>0.72</c:v>
                </c:pt>
                <c:pt idx="2">
                  <c:v>0.74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7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0.11</c:v>
                </c:pt>
                <c:pt idx="1">
                  <c:v>0.7</c:v>
                </c:pt>
                <c:pt idx="2">
                  <c:v>0.84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7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0.97</c:v>
                </c:pt>
                <c:pt idx="1">
                  <c:v>0.86</c:v>
                </c:pt>
                <c:pt idx="2">
                  <c:v>0.95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7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2194560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MACHINE LEARNING · PHASE 2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5029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914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166420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5420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B4CC"/>
                </a:solidFill>
              </a:rPr>
              <a:t>Phase 2 Progress Report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3090672"/>
            <a:ext cx="411480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</a:rPr>
              <a:t>Team: Youssef Yasser Serry  ·  Ziad Reda Mohamed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858768"/>
            <a:ext cx="1938528" cy="1005840"/>
          </a:xfrm>
          <a:prstGeom prst="rect">
            <a:avLst/>
          </a:prstGeom>
          <a:solidFill>
            <a:srgbClr val="132B5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895344"/>
            <a:ext cx="1938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284,807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57200" y="438912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Transactions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606040" y="3858768"/>
            <a:ext cx="1938528" cy="1005840"/>
          </a:xfrm>
          <a:prstGeom prst="rect">
            <a:avLst/>
          </a:prstGeom>
          <a:solidFill>
            <a:srgbClr val="132B5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06040" y="3895344"/>
            <a:ext cx="1938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492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606040" y="438912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Fraud Cases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3858768"/>
            <a:ext cx="1938528" cy="1005840"/>
          </a:xfrm>
          <a:prstGeom prst="rect">
            <a:avLst/>
          </a:prstGeom>
          <a:solidFill>
            <a:srgbClr val="132B5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3895344"/>
            <a:ext cx="1938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0.17%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754880" y="438912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Fraud Rate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03720" y="3858768"/>
            <a:ext cx="1938528" cy="1005840"/>
          </a:xfrm>
          <a:prstGeom prst="rect">
            <a:avLst/>
          </a:prstGeom>
          <a:solidFill>
            <a:srgbClr val="132B5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03720" y="3895344"/>
            <a:ext cx="1938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903720" y="438912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Models Tested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Project Overview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420624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15568"/>
            <a:ext cx="42062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9844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12435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</a:rPr>
              <a:t>Goal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0352" y="1700784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Detect fraudulent credit-card transactions using machine learning and deep learning models.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82312" y="1115568"/>
            <a:ext cx="420624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82312" y="1115568"/>
            <a:ext cx="42062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29844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68112" y="12435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</a:rPr>
              <a:t>Dataset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65192" y="1700784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284,807 transactions — 492 fraud cases (Kaggle Credit Card Fraud dataset). Highly imbalanced real-world data.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7472" y="3035808"/>
            <a:ext cx="420624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47472" y="3035808"/>
            <a:ext cx="42062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1868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3272" y="31638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</a:rPr>
              <a:t>Features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30352" y="3621024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Time, Amount, and V1–V28 (PCA-transformed, anonymized numerical inputs).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82312" y="3035808"/>
            <a:ext cx="420624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82312" y="3035808"/>
            <a:ext cx="42062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21868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68112" y="31638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</a:rPr>
              <a:t>Approach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965192" y="3621024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Logistic Regression baseline → resampling (SMOTE), class weighting, threshold tuning, and DNNs.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EDA — Class Distribution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480560" y="1005840"/>
          <a:ext cx="43891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1078992"/>
            <a:ext cx="400507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78992"/>
            <a:ext cx="4005072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216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Extreme Imbalance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5361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~284,315 legitimate vs 492 fraud transactions.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2423160"/>
            <a:ext cx="400507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2423160"/>
            <a:ext cx="4005072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Fraud Rate ≈ 0.17%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2880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 model predicting all-legitimate still gets 99.83% accuracy.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3767328"/>
            <a:ext cx="400507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3767328"/>
            <a:ext cx="4005072" cy="640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3904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Key Metrics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" y="42245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Use Recall, Precision, F1, PR-AUC — not raw accuracy.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0040" y="4114800"/>
            <a:ext cx="4005072" cy="749808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242816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86968" y="41148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3E3E"/>
                </a:solidFill>
              </a:rPr>
              <a:t>Accuracy alone is dangerously misleading for fraud detection!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EDA — Amount Distribution &amp; Correlation Heatmap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16052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</a:rPr>
              <a:t>Amount Distribution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554480"/>
          <a:ext cx="40233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7947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Distribution is extremely right-skewed
</a:t>
            </a:r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Majority of transactions are low-value (&lt;$50)
</a:t>
            </a:r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Amount has mild correlation with fraud label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81728" y="1051560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1728" y="1051560"/>
            <a:ext cx="4160520" cy="640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17043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</a:rPr>
              <a:t>Correlation Heatmap Findings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828032" y="1572768"/>
            <a:ext cx="379476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70992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57276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0"/>
                </a:solidFill>
              </a:rPr>
              <a:t>PCA features (V1–V28) are largely uncorrelated by design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28032" y="2359152"/>
            <a:ext cx="379476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49631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94960" y="235915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0"/>
                </a:solidFill>
              </a:rPr>
              <a:t>Amount shows mild correlation with the fraud label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828032" y="3145536"/>
            <a:ext cx="379476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282696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94960" y="314553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0"/>
                </a:solidFill>
              </a:rPr>
              <a:t>No single strong linear predictor found across features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828032" y="3931920"/>
            <a:ext cx="379476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4069080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94960" y="39319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0"/>
                </a:solidFill>
              </a:rPr>
              <a:t>Nonlinear models (DNN, RF) are needed for better detection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Baseline Model 1 — Logistic Regression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2004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32004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</a:rPr>
              <a:t>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600200"/>
            <a:ext cx="283464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600200"/>
            <a:ext cx="54864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0020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0"/>
                </a:solidFill>
              </a:rPr>
              <a:t>Train/test split (standard holdout)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2350008"/>
            <a:ext cx="283464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350008"/>
            <a:ext cx="54864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50008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0"/>
                </a:solidFill>
              </a:rPr>
              <a:t>StandardScaler to normalize 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3099816"/>
            <a:ext cx="283464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3099816"/>
            <a:ext cx="54864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99816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0"/>
                </a:solidFill>
              </a:rPr>
              <a:t>Logistic Regression as transparent baseline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" y="3849624"/>
            <a:ext cx="283464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3849624"/>
            <a:ext cx="54864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49624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0"/>
                </a:solidFill>
              </a:rPr>
              <a:t>Measures reachable recall/precision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740"/>
                </a:solidFill>
              </a:rPr>
              <a:t>without resampling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03320" y="1051560"/>
            <a:ext cx="5120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03320" y="1051560"/>
            <a:ext cx="512064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Accuracy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86200" y="14630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</a:rPr>
              <a:t>97.55%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94360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ROC-AUC: 0.97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1627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F1-score: 0.11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03320" y="2697480"/>
            <a:ext cx="2450592" cy="21762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03320" y="2697480"/>
            <a:ext cx="2450592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58768" y="281635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Class Metrics (Fraud)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58768" y="3200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Precision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3200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0.06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858768" y="3529584"/>
            <a:ext cx="210312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58768" y="3529584"/>
            <a:ext cx="126187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3703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Recall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3703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0.92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858768" y="4032504"/>
            <a:ext cx="210312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58768" y="4032504"/>
            <a:ext cx="193487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58768" y="4206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F1-score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4206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0.11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858768" y="4535424"/>
            <a:ext cx="210312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58768" y="4535424"/>
            <a:ext cx="231343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2697480"/>
            <a:ext cx="2514600" cy="21762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9360" y="2697480"/>
            <a:ext cx="25146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28163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Confusion Matrix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46520" y="3246120"/>
            <a:ext cx="1115568" cy="658368"/>
          </a:xfrm>
          <a:prstGeom prst="rect">
            <a:avLst/>
          </a:prstGeom>
          <a:solidFill>
            <a:srgbClr val="E8F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324612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A169"/>
                </a:solidFill>
              </a:rPr>
              <a:t>TN: 55,478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635240" y="3246120"/>
            <a:ext cx="1115568" cy="658368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35240" y="324612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E3E"/>
                </a:solidFill>
              </a:rPr>
              <a:t>FP: 1,386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46520" y="4023360"/>
            <a:ext cx="1115568" cy="658368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402336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E3E"/>
                </a:solidFill>
              </a:rPr>
              <a:t>FN: 8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35240" y="4023360"/>
            <a:ext cx="1115568" cy="658368"/>
          </a:xfrm>
          <a:prstGeom prst="rect">
            <a:avLst/>
          </a:prstGeom>
          <a:solidFill>
            <a:srgbClr val="E8F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35240" y="402336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A169"/>
                </a:solidFill>
              </a:rPr>
              <a:t>TP: 90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703320" y="4617720"/>
            <a:ext cx="5120640" cy="320040"/>
          </a:xfrm>
          <a:prstGeom prst="rect">
            <a:avLst/>
          </a:prstGeom>
          <a:solidFill>
            <a:srgbClr val="EFF6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94760" y="4617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B82F6"/>
                </a:solidFill>
              </a:rPr>
              <a:t>High recall (0.92) but near-zero precision (0.06) — 1,386 false alarms for every real fraud caught!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Baseline Model 2 — Decision Tree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2004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32004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</a:rPr>
              <a:t>Model Details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600200"/>
            <a:ext cx="283464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600200"/>
            <a:ext cx="54864" cy="64008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0020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0"/>
                </a:solidFill>
              </a:rPr>
              <a:t>Decision Tree Classifier (default params)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2350008"/>
            <a:ext cx="283464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350008"/>
            <a:ext cx="54864" cy="64008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50008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0"/>
                </a:solidFill>
              </a:rPr>
              <a:t>Same train/test split as Logistic Regression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3099816"/>
            <a:ext cx="283464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3099816"/>
            <a:ext cx="54864" cy="64008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99816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0"/>
                </a:solidFill>
              </a:rPr>
              <a:t>No resampling applied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" y="3849624"/>
            <a:ext cx="283464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3849624"/>
            <a:ext cx="54864" cy="64008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49624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0"/>
                </a:solidFill>
              </a:rPr>
              <a:t>Used to test nonlinear decision boundaries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03320" y="1051560"/>
            <a:ext cx="5120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03320" y="1051560"/>
            <a:ext cx="5120640" cy="640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Accuracy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86200" y="14630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040"/>
                </a:solidFill>
              </a:rPr>
              <a:t>99.89%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94360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ROC-AUC: 0.86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1627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F1-score: 0.70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03320" y="2697480"/>
            <a:ext cx="2450592" cy="21762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03320" y="2697480"/>
            <a:ext cx="2450592" cy="640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58768" y="281635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Class Metrics (Fraud)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58768" y="3200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Precision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3200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C040"/>
                </a:solidFill>
              </a:rPr>
              <a:t>0.68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858768" y="3529584"/>
            <a:ext cx="210312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58768" y="3529584"/>
            <a:ext cx="1430122" cy="10972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3703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Recall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3703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C040"/>
                </a:solidFill>
              </a:rPr>
              <a:t>0.72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858768" y="4032504"/>
            <a:ext cx="210312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58768" y="4032504"/>
            <a:ext cx="1514246" cy="10972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58768" y="4206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F1-score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4206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C040"/>
                </a:solidFill>
              </a:rPr>
              <a:t>0.70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858768" y="4535424"/>
            <a:ext cx="210312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58768" y="4535424"/>
            <a:ext cx="1472184" cy="10972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2697480"/>
            <a:ext cx="2514600" cy="21762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9360" y="2697480"/>
            <a:ext cx="2514600" cy="640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28163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Confusion Matrix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46520" y="3246120"/>
            <a:ext cx="1115568" cy="658368"/>
          </a:xfrm>
          <a:prstGeom prst="rect">
            <a:avLst/>
          </a:prstGeom>
          <a:solidFill>
            <a:srgbClr val="E8F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324612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A169"/>
                </a:solidFill>
              </a:rPr>
              <a:t>TN: 56,830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635240" y="3246120"/>
            <a:ext cx="1115568" cy="658368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35240" y="324612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E3E"/>
                </a:solidFill>
              </a:rPr>
              <a:t>FP: 34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46520" y="4023360"/>
            <a:ext cx="1115568" cy="658368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402336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E3E"/>
                </a:solidFill>
              </a:rPr>
              <a:t>FN: 27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35240" y="4023360"/>
            <a:ext cx="1115568" cy="658368"/>
          </a:xfrm>
          <a:prstGeom prst="rect">
            <a:avLst/>
          </a:prstGeom>
          <a:solidFill>
            <a:srgbClr val="E8F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35240" y="402336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A169"/>
                </a:solidFill>
              </a:rPr>
              <a:t>TP: 71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703320" y="4617720"/>
            <a:ext cx="5120640" cy="320040"/>
          </a:xfrm>
          <a:prstGeom prst="rect">
            <a:avLst/>
          </a:prstGeom>
          <a:solidFill>
            <a:srgbClr val="FFFBEB"/>
          </a:solidFill>
          <a:ln w="10160">
            <a:solidFill>
              <a:srgbClr val="F0C0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94760" y="4617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2600A"/>
                </a:solidFill>
              </a:rPr>
              <a:t>More balanced precision/recall than LR — but still 27 missed frauds (FN). ROC-AUC only 0.86.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Baseline Model 3 — Random Forest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2004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32004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</a:rPr>
              <a:t>Model Details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600200"/>
            <a:ext cx="283464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600200"/>
            <a:ext cx="54864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0020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0"/>
                </a:solidFill>
              </a:rPr>
              <a:t>Random Forest (ensemble of decision trees)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2350008"/>
            <a:ext cx="283464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350008"/>
            <a:ext cx="54864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50008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0"/>
                </a:solidFill>
              </a:rPr>
              <a:t>Same train/test split &amp; scaling pipeline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3099816"/>
            <a:ext cx="283464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3099816"/>
            <a:ext cx="54864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99816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0"/>
                </a:solidFill>
              </a:rPr>
              <a:t>No resampling — pure baseline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" y="3849624"/>
            <a:ext cx="283464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3849624"/>
            <a:ext cx="54864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49624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0"/>
                </a:solidFill>
              </a:rPr>
              <a:t>Handles nonlinearity &amp; feature interactions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03320" y="1051560"/>
            <a:ext cx="5120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03320" y="1051560"/>
            <a:ext cx="51206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Accuracy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86200" y="14630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</a:rPr>
              <a:t>99.95%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94360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ROC-AUC: 0.95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1627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F1-score: 0.84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03320" y="2697480"/>
            <a:ext cx="2450592" cy="21762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03320" y="2697480"/>
            <a:ext cx="2450592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58768" y="281635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Class Metrics (Fraud)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58768" y="3200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Precision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3200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0.96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858768" y="3529584"/>
            <a:ext cx="210312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58768" y="3529584"/>
            <a:ext cx="20189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3703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Recall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3703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0.74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858768" y="4032504"/>
            <a:ext cx="210312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58768" y="4032504"/>
            <a:ext cx="1556309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58768" y="4206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F1-score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4206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0.84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858768" y="4535424"/>
            <a:ext cx="210312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58768" y="4535424"/>
            <a:ext cx="1766621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2697480"/>
            <a:ext cx="2514600" cy="21762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9360" y="2697480"/>
            <a:ext cx="25146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28163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Confusion Matrix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46520" y="3246120"/>
            <a:ext cx="1115568" cy="658368"/>
          </a:xfrm>
          <a:prstGeom prst="rect">
            <a:avLst/>
          </a:prstGeom>
          <a:solidFill>
            <a:srgbClr val="E8F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324612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A169"/>
                </a:solidFill>
              </a:rPr>
              <a:t>TN: 56,861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635240" y="3246120"/>
            <a:ext cx="1115568" cy="658368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35240" y="324612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E3E"/>
                </a:solidFill>
              </a:rPr>
              <a:t>FP: 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46520" y="4023360"/>
            <a:ext cx="1115568" cy="658368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402336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E3E"/>
                </a:solidFill>
              </a:rPr>
              <a:t>FN: 25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35240" y="4023360"/>
            <a:ext cx="1115568" cy="658368"/>
          </a:xfrm>
          <a:prstGeom prst="rect">
            <a:avLst/>
          </a:prstGeom>
          <a:solidFill>
            <a:srgbClr val="E8F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35240" y="402336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A169"/>
                </a:solidFill>
              </a:rPr>
              <a:t>TP: 73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703320" y="4617720"/>
            <a:ext cx="5120640" cy="320040"/>
          </a:xfrm>
          <a:prstGeom prst="rect">
            <a:avLst/>
          </a:prstGeom>
          <a:solidFill>
            <a:srgbClr val="ECFDF5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94760" y="4617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5F46"/>
                </a:solidFill>
              </a:rPr>
              <a:t>Best baseline: 0.96 precision, only 3 false positives. But recall (0.74) still misses ~25% of frauds.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Baseline Models — Full Comparison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05840"/>
          <a:ext cx="5852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36792" y="1051560"/>
            <a:ext cx="249631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336792" y="1051560"/>
            <a:ext cx="2496312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73952" y="1143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</a:rPr>
              <a:t>🏆 Best Precision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73952" y="14356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Random Forest: 0.96 — fewest false alarms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336792" y="2011680"/>
            <a:ext cx="249631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36792" y="2011680"/>
            <a:ext cx="2496312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73952" y="2103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</a:rPr>
              <a:t>🎯 Best Recall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73952" y="23957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Logistic Regression: 0.92 — catches most fraud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336792" y="2971800"/>
            <a:ext cx="249631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36792" y="2971800"/>
            <a:ext cx="2496312" cy="640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73952" y="3063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</a:rPr>
              <a:t>⚖️ Most Balanced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73952" y="33558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Random Forest: F1 0.84, ROC-AUC 0.95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36792" y="3931920"/>
            <a:ext cx="249631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36792" y="3931920"/>
            <a:ext cx="2496312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73952" y="4023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</a:rPr>
              <a:t>⚠️ Core Problem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73952" y="43159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No model achieves high recall AND precision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Identified Problems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24128"/>
            <a:ext cx="4206240" cy="1737360"/>
          </a:xfrm>
          <a:prstGeom prst="rect">
            <a:avLst/>
          </a:prstGeom>
          <a:solidFill>
            <a:srgbClr val="132B54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24128"/>
            <a:ext cx="420624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61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Severe Class Imbalance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52704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Fraud is 0.17% of data — skews model learning and standard metrics toward the majority class.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82312" y="1024128"/>
            <a:ext cx="4206240" cy="1737360"/>
          </a:xfrm>
          <a:prstGeom prst="rect">
            <a:avLst/>
          </a:prstGeom>
          <a:solidFill>
            <a:srgbClr val="132B54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2312" y="1024128"/>
            <a:ext cx="4206240" cy="640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161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Misleading Accuracy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65192" y="152704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99.83% accuracy is achievable by predicting all-legitimate. Precision &amp; recall matter far more.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990088"/>
            <a:ext cx="4206240" cy="1737360"/>
          </a:xfrm>
          <a:prstGeom prst="rect">
            <a:avLst/>
          </a:prstGeom>
          <a:solidFill>
            <a:srgbClr val="132B54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990088"/>
            <a:ext cx="4206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127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Insufficient Fraud Recall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49300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LR recall 0.92 comes with near-zero precision. RF's precision 0.96 still misses 25% of frauds.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82312" y="2990088"/>
            <a:ext cx="4206240" cy="1737360"/>
          </a:xfrm>
          <a:prstGeom prst="rect">
            <a:avLst/>
          </a:prstGeom>
          <a:solidFill>
            <a:srgbClr val="132B5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82312" y="2990088"/>
            <a:ext cx="42062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127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Actionable Needs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65192" y="349300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Class weights, SMOTE oversampling, threshold tuning, anomaly detection, and DNN architectures.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Proposed Methods (Shortlist)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15568"/>
            <a:ext cx="42062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984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</a:rPr>
              <a:t>Class Weighting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547872" y="1252728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47872" y="12527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Low Complexity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30352" y="1709928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Add inverse-frequency weights to loss function. Simple, low-cost, no new samples. Better recall with less overfitting risk.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82312" y="1115568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82312" y="1115568"/>
            <a:ext cx="42062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29844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</a:rPr>
              <a:t>SMOTE / Borderline-SMOTE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982712" y="1252728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982712" y="12527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 Complexity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4965192" y="1709928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Generate synthetic fraud samples in feature space to balance training. Compare borderline and standard SMOTE variants.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47472" y="3081528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47472" y="3081528"/>
            <a:ext cx="42062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6440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0584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</a:rPr>
              <a:t>Threshold Tuning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547872" y="3218688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547872" y="32186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Low Complexity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530352" y="3675888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Adjust decision threshold using PR-AUC to optimize recall at a fixed acceptable false-alarm rate for operations.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782312" y="3081528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82312" y="3081528"/>
            <a:ext cx="42062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264408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4068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</a:rPr>
              <a:t>Deep Neural Network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7982712" y="3218688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982712" y="32186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 Complexity</a:t>
            </a:r>
            <a:endParaRPr lang="en-US" sz="700" dirty="0"/>
          </a:p>
        </p:txBody>
      </p:sp>
      <p:sp>
        <p:nvSpPr>
          <p:cNvPr id="32" name="Text 26"/>
          <p:cNvSpPr/>
          <p:nvPr/>
        </p:nvSpPr>
        <p:spPr>
          <a:xfrm>
            <a:off x="4965192" y="3675888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Dense layers with dropout + class-weighted loss. Captures nonlinear patterns across all 30 PCA/Amount/Time features.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Next Steps &amp;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</a:rPr>
              <a:t>Timeline: 2–4 weeks · Immediate deliverable: reproducible training notebook + comparative results table + demo API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4206240" cy="1627632"/>
          </a:xfrm>
          <a:prstGeom prst="rect">
            <a:avLst/>
          </a:prstGeom>
          <a:solidFill>
            <a:srgbClr val="132B54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87552"/>
            <a:ext cx="502920" cy="16276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987552"/>
            <a:ext cx="5029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" y="11247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Implement DNN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1832" y="153619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C"/>
                </a:solidFill>
              </a:rPr>
              <a:t>Design architecture (dense layers, dropout, class-weighted loss), run cross-validated experiments.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82312" y="987552"/>
            <a:ext cx="4206240" cy="1627632"/>
          </a:xfrm>
          <a:prstGeom prst="rect">
            <a:avLst/>
          </a:prstGeom>
          <a:solidFill>
            <a:srgbClr val="132B54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82312" y="987552"/>
            <a:ext cx="502920" cy="16276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987552"/>
            <a:ext cx="5029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76672" y="11247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Resampling &amp; Weighting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76672" y="153619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C"/>
                </a:solidFill>
              </a:rPr>
              <a:t>Test SMOTE variants and class weighting; compare using PR-AUC and fraud recall at fixed precision.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2798064"/>
            <a:ext cx="4206240" cy="1627632"/>
          </a:xfrm>
          <a:prstGeom prst="rect">
            <a:avLst/>
          </a:prstGeom>
          <a:solidFill>
            <a:srgbClr val="132B54"/>
          </a:solidFill>
          <a:ln w="10160">
            <a:solidFill>
              <a:srgbClr val="F0C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798064"/>
            <a:ext cx="502920" cy="16276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798064"/>
            <a:ext cx="5029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1832" y="29352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Productionization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1832" y="334670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C"/>
                </a:solidFill>
              </a:rPr>
              <a:t>Build a lightweight live demo/API for predictions and thresholded alerting; add concept drift monitoring.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82312" y="2798064"/>
            <a:ext cx="4206240" cy="1627632"/>
          </a:xfrm>
          <a:prstGeom prst="rect">
            <a:avLst/>
          </a:prstGeom>
          <a:solidFill>
            <a:srgbClr val="132B54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82312" y="2798064"/>
            <a:ext cx="502920" cy="16276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798064"/>
            <a:ext cx="5029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76672" y="29352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Evaluation &amp; Comparison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76672" y="334670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C"/>
                </a:solidFill>
              </a:rPr>
              <a:t>Compare DNN vs baseline on recall, precision, PR-AUC, and operational false-alarm rate; prepare handoff docs.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45720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474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</a:rPr>
              <a:t>KEY TAKEAWAYS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3152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Phase 2 Established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621792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600200"/>
            <a:ext cx="73152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1600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 imbalance is the core challenge</a:t>
            </a:r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</a:rPr>
              <a:t> — 0.17% fraud rate makes all standard metrics deceptive.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395728"/>
            <a:ext cx="73152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395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Forest wins on precision (0.96)</a:t>
            </a:r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</a:rPr>
              <a:t> — best at avoiding false alarms, but misses 1 in 4 frauds.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191256"/>
            <a:ext cx="73152" cy="59436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319125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Logistic Regression leads on recall (0.92)</a:t>
            </a:r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</a:rPr>
              <a:t> — but triggers 1,386 false alarms for every real fraud.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986784"/>
            <a:ext cx="73152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398678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baseline achieves both goals</a:t>
            </a:r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</a:rPr>
              <a:t> — advanced techniques (SMOTE, DNN) are necessary to close the gap.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— Phase 2 Progress</dc:title>
  <dc:subject>PptxGenJS Presentation</dc:subject>
  <dc:creator>PptxGenJS</dc:creator>
  <cp:lastModifiedBy>PptxGenJS</cp:lastModifiedBy>
  <cp:revision>1</cp:revision>
  <dcterms:created xsi:type="dcterms:W3CDTF">2026-05-13T21:32:30Z</dcterms:created>
  <dcterms:modified xsi:type="dcterms:W3CDTF">2026-05-13T21:32:30Z</dcterms:modified>
</cp:coreProperties>
</file>