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38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960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B7C8-7479-BA6D-058D-39B6F735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624E8-3E34-1673-50EB-84C4D412B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FE40E-ED23-C4B7-3AA2-2BFE4EA30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9B138-83FE-51D9-2BE2-6EF02C9BE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88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914400"/>
            <a:ext cx="5029200" cy="5029200"/>
          </a:xfrm>
          <a:prstGeom prst="ellipse">
            <a:avLst/>
          </a:prstGeom>
          <a:solidFill>
            <a:srgbClr val="112244">
              <a:alpha val="70000"/>
            </a:srgbClr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365760"/>
            <a:ext cx="3657600" cy="3657600"/>
          </a:xfrm>
          <a:prstGeom prst="ellipse">
            <a:avLst/>
          </a:prstGeom>
          <a:solidFill>
            <a:srgbClr val="1E4D8C">
              <a:alpha val="50000"/>
            </a:srgbClr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556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 — Deep Learning Component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2331720"/>
            <a:ext cx="502920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Architecture &amp; Training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for Class Imbalance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Metrics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Yasser Serry  |  ID: 120220129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Learning?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hit their ceiling — the DNN breaks 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060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06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Boundary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draws a straight line. Fraud patterns are non-linear and complex.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6060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060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4813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overfits. Random Forest helps, but is still limited by shallow representations.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06040" cy="914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4813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Depth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 use raw features. A DNN learns hierarchical, abstract representations.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00507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DNN learns non-linear boundaries, deep feature hierarchies, and is optimized for imbalance — outperforming all baselines.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hidden blocks · 192,449 trainable parameters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078992" cy="1371600"/>
          </a:xfrm>
          <a:prstGeom prst="rect">
            <a:avLst/>
          </a:prstGeom>
          <a:solidFill>
            <a:srgbClr val="2D3A50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44475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features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53312" y="2057400"/>
            <a:ext cx="14630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99616" y="1371600"/>
            <a:ext cx="1078992" cy="1371600"/>
          </a:xfrm>
          <a:prstGeom prst="rect">
            <a:avLst/>
          </a:prstGeom>
          <a:solidFill>
            <a:srgbClr val="1E4D8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99616" y="144475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99616" y="187452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→ BN → GELU → Drop(0.3)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78608" y="2057400"/>
            <a:ext cx="14630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24912" y="1371600"/>
            <a:ext cx="1078992" cy="1371600"/>
          </a:xfrm>
          <a:prstGeom prst="rect">
            <a:avLst/>
          </a:prstGeom>
          <a:solidFill>
            <a:srgbClr val="1A5FA8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24912" y="144475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4912" y="187452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→ BN → GELU → Drop(0.3)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03904" y="2057400"/>
            <a:ext cx="14630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50208" y="1371600"/>
            <a:ext cx="1078992" cy="1371600"/>
          </a:xfrm>
          <a:prstGeom prst="rect">
            <a:avLst/>
          </a:prstGeom>
          <a:solidFill>
            <a:srgbClr val="1672B5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50208" y="144475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50208" y="187452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→ BN → GELU → Drop(0.3)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0" y="2057400"/>
            <a:ext cx="14630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75504" y="1371600"/>
            <a:ext cx="1078992" cy="1371600"/>
          </a:xfrm>
          <a:prstGeom prst="rect">
            <a:avLst/>
          </a:prstGeom>
          <a:solidFill>
            <a:srgbClr val="1285C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75504" y="144475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75504" y="187452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BN → GELU → Drop(0.15)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54496" y="2057400"/>
            <a:ext cx="14630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0" y="1371600"/>
            <a:ext cx="1078992" cy="1371600"/>
          </a:xfrm>
          <a:prstGeom prst="rect">
            <a:avLst/>
          </a:prstGeom>
          <a:solidFill>
            <a:srgbClr val="0D99D0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144475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187452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→ BN → GELU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79792" y="2057400"/>
            <a:ext cx="14630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26096" y="1371600"/>
            <a:ext cx="1078992" cy="1371600"/>
          </a:xfrm>
          <a:prstGeom prst="rect">
            <a:avLst/>
          </a:prstGeom>
          <a:solidFill>
            <a:srgbClr val="00C2CB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26096" y="1444752"/>
            <a:ext cx="107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26096" y="187452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Sigmoid → BCE Loss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017520"/>
            <a:ext cx="2011680" cy="1737360"/>
          </a:xfrm>
          <a:prstGeom prst="rect">
            <a:avLst/>
          </a:prstGeom>
          <a:solidFill>
            <a:srgbClr val="0D1F3C"/>
          </a:solidFill>
          <a:ln w="762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310896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 Activation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" y="3538728"/>
            <a:ext cx="179222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than ReLU. No dead neurons. Better gradient flow for rare fraud signals.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50592" y="3017520"/>
            <a:ext cx="2011680" cy="1737360"/>
          </a:xfrm>
          <a:prstGeom prst="rect">
            <a:avLst/>
          </a:prstGeom>
          <a:solidFill>
            <a:srgbClr val="0D1F3C"/>
          </a:solidFill>
          <a:ln w="762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60320" y="310896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60320" y="3538728"/>
            <a:ext cx="179222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training. Acts as regularizer. Allows higher learning rates.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26864" y="3017520"/>
            <a:ext cx="2011680" cy="1737360"/>
          </a:xfrm>
          <a:prstGeom prst="rect">
            <a:avLst/>
          </a:prstGeom>
          <a:solidFill>
            <a:srgbClr val="0D1F3C"/>
          </a:solidFill>
          <a:ln w="762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36592" y="310896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Init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36592" y="3538728"/>
            <a:ext cx="179222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vanishing/exploding gradients at initialization for deep networks.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03136" y="3017520"/>
            <a:ext cx="2011680" cy="1737360"/>
          </a:xfrm>
          <a:prstGeom prst="rect">
            <a:avLst/>
          </a:prstGeom>
          <a:solidFill>
            <a:srgbClr val="0D1F3C"/>
          </a:solidFill>
          <a:ln w="762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12864" y="310896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0.30 / 0.15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12864" y="3538728"/>
            <a:ext cx="179222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co-adaptation. Deeper layers use less dropout to preserve learned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578:1 ratio — three complementary strategies deployed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8156448" cy="347472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5603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0.17%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92240" y="12252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99.83%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8561" y="173736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2651760" cy="56692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773936"/>
            <a:ext cx="475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8105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2395728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synthetic fraud samples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Interpolates between k-nearest neighbours</a:t>
            </a:r>
            <a:endParaRPr lang="en-US" sz="1100" dirty="0"/>
          </a:p>
          <a:p>
            <a:r>
              <a:rPr lang="en-US" sz="1100" dirty="0"/>
              <a:t>Minority class oversampled to 35% ratio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/>
              <a:t>Prevents overfitting caused by 1:1 pure balancing</a:t>
            </a:r>
          </a:p>
        </p:txBody>
      </p:sp>
      <p:sp>
        <p:nvSpPr>
          <p:cNvPr id="14" name="Text 12"/>
          <p:cNvSpPr/>
          <p:nvPr/>
        </p:nvSpPr>
        <p:spPr>
          <a:xfrm>
            <a:off x="513471" y="2689341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Interpolates between k-nearest neighbours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4124949"/>
            <a:ext cx="2395728" cy="418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Applied only to train split (no leakage)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87599" y="1735752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00400" y="1737360"/>
            <a:ext cx="2651760" cy="566928"/>
          </a:xfrm>
          <a:prstGeom prst="rect">
            <a:avLst/>
          </a:prstGeom>
          <a:solidFill>
            <a:srgbClr val="0D7A5C"/>
          </a:solidFill>
          <a:ln w="12700">
            <a:solidFill>
              <a:srgbClr val="0D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0128" y="1773936"/>
            <a:ext cx="475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49040" y="18105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 Function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2395728"/>
            <a:ext cx="2395728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9526" y="239572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BCEWithLogitsLoss + pos_weight ≈ 2.86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2702203"/>
            <a:ext cx="2395728" cy="444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/>
              <a:t>Penalizes missed fraud ~3x more</a:t>
            </a:r>
          </a:p>
        </p:txBody>
      </p:sp>
      <p:sp>
        <p:nvSpPr>
          <p:cNvPr id="24" name="Text 22"/>
          <p:cNvSpPr/>
          <p:nvPr/>
        </p:nvSpPr>
        <p:spPr>
          <a:xfrm>
            <a:off x="3310128" y="3064044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/>
              <a:t>Balanced gradient for stable learning</a:t>
            </a:r>
          </a:p>
        </p:txBody>
      </p:sp>
      <p:sp>
        <p:nvSpPr>
          <p:cNvPr id="25" name="Text 23"/>
          <p:cNvSpPr/>
          <p:nvPr/>
        </p:nvSpPr>
        <p:spPr>
          <a:xfrm>
            <a:off x="3310128" y="338328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/>
              <a:t>Works on original data distribution</a:t>
            </a:r>
          </a:p>
        </p:txBody>
      </p:sp>
      <p:sp>
        <p:nvSpPr>
          <p:cNvPr id="26" name="Shape 24"/>
          <p:cNvSpPr/>
          <p:nvPr/>
        </p:nvSpPr>
        <p:spPr>
          <a:xfrm>
            <a:off x="6035040" y="173736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1737360"/>
            <a:ext cx="265176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4768" y="1773936"/>
            <a:ext cx="475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83680" y="18105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Sampler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2395728"/>
            <a:ext cx="2395728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44768" y="239572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DataLoader samples fraud with boosted prob.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53912" y="2863909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batch has balanced representation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36386" y="3256652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Works alongside SMOTE seamlessly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44768" y="3732589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Ensures stable gradient each step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config · AdamW · Cosine Annealing · Early Stopping · Auto Threshold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512064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BCEWithLogitsLoss + pos_weight ≈ 2.86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(lr=5e-4, decay=1e-4)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6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Annealing (T_max=100)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6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 (stopped at epoch 27)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15 (val AUC)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6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 Clipping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max_norm = 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— P-R optimal = 0.9996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6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34440"/>
            <a:ext cx="3017520" cy="1097280"/>
          </a:xfrm>
          <a:prstGeom prst="rect">
            <a:avLst/>
          </a:prstGeom>
          <a:solidFill>
            <a:srgbClr val="0D1F3C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589788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Cosine LR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97880" y="16459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steps early, tiny fine-tuning near convergence. Better than step decay.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60720" y="2468880"/>
            <a:ext cx="3017520" cy="1097280"/>
          </a:xfrm>
          <a:prstGeom prst="rect">
            <a:avLst/>
          </a:prstGeom>
          <a:solidFill>
            <a:srgbClr val="0D1F3C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⏹ Early Stop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97880" y="2880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val AUC. Saves best checkpoint. Prevents memorising training noise.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3703320"/>
            <a:ext cx="3017520" cy="1097280"/>
          </a:xfrm>
          <a:prstGeom prst="rect">
            <a:avLst/>
          </a:prstGeom>
          <a:solidFill>
            <a:srgbClr val="0D1F3C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9788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Grad Clip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97880" y="4114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gradient norm at 1.0. Prevents exploding gradients in deep layers.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 · epoch 27 · threshold optimised to 0.9996 via P-R curve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956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1" y="1289304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4600" y="1280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14600" y="1956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280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1956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(Fraud)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1" y="1207008"/>
            <a:ext cx="1920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12280" y="1280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12280" y="1956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33472"/>
          <a:ext cx="841248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(Fraud)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4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DNN (Ours)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2CF65001-F331-3B8E-8C57-F658A476F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5847"/>
            <a:ext cx="3302876" cy="27523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6DE96CA-AD92-3F3A-42BC-1C8CCF562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576" y="2433145"/>
            <a:ext cx="3252424" cy="27103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30372D1-D23B-B290-1898-CE963EC97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877" y="3076197"/>
            <a:ext cx="2584128" cy="206730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ED955EF-48C1-5437-49E9-1661D864AC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7545" y="0"/>
            <a:ext cx="6365373" cy="212179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992C162-A253-421A-CBB3-5038BA933169}"/>
              </a:ext>
            </a:extLst>
          </p:cNvPr>
          <p:cNvSpPr txBox="1"/>
          <p:nvPr/>
        </p:nvSpPr>
        <p:spPr>
          <a:xfrm>
            <a:off x="-1481959" y="146797"/>
            <a:ext cx="4572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4BCAB0-0CCC-9573-26A4-F9EA1A4A8463}"/>
              </a:ext>
            </a:extLst>
          </p:cNvPr>
          <p:cNvSpPr txBox="1"/>
          <p:nvPr/>
        </p:nvSpPr>
        <p:spPr>
          <a:xfrm>
            <a:off x="345118" y="724481"/>
            <a:ext cx="5312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2C505F-DB1C-6EE5-153E-1A4F5BBD93CE}"/>
              </a:ext>
            </a:extLst>
          </p:cNvPr>
          <p:cNvSpPr txBox="1"/>
          <p:nvPr/>
        </p:nvSpPr>
        <p:spPr>
          <a:xfrm>
            <a:off x="345118" y="1032257"/>
            <a:ext cx="531297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D7A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3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4BD97C-F83B-BE5F-7F96-5535F3674E7E}"/>
              </a:ext>
            </a:extLst>
          </p:cNvPr>
          <p:cNvSpPr txBox="1"/>
          <p:nvPr/>
        </p:nvSpPr>
        <p:spPr>
          <a:xfrm>
            <a:off x="433552" y="1647810"/>
            <a:ext cx="5312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E84F9B-F401-A05B-12A5-53E779BE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EE34B7-D253-70C4-B1C0-E07AD8859ED3}"/>
              </a:ext>
            </a:extLst>
          </p:cNvPr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 &amp; Regularization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21B597-DDA0-B804-C314-6E4D7472A50A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achieves low bias AND low variance through 5 complementary techniques</a:t>
            </a:r>
            <a:endParaRPr lang="en-US" sz="13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407AEB00-7DDA-5C55-DF16-3EAC7283DCD7}"/>
              </a:ext>
            </a:extLst>
          </p:cNvPr>
          <p:cNvGraphicFramePr>
            <a:graphicFrameLocks noGrp="1"/>
          </p:cNvGraphicFramePr>
          <p:nvPr/>
        </p:nvGraphicFramePr>
        <p:xfrm>
          <a:off x="365760" y="1234440"/>
          <a:ext cx="5029200" cy="3474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Dec.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6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6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6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6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Rnd.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DNN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fit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8CDCD545-3D40-5506-0FA0-D2970574C836}"/>
              </a:ext>
            </a:extLst>
          </p:cNvPr>
          <p:cNvSpPr/>
          <p:nvPr/>
        </p:nvSpPr>
        <p:spPr>
          <a:xfrm>
            <a:off x="5623560" y="1234440"/>
            <a:ext cx="3154680" cy="621792"/>
          </a:xfrm>
          <a:prstGeom prst="rect">
            <a:avLst/>
          </a:prstGeom>
          <a:solidFill>
            <a:srgbClr val="0D1F3C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15B0CBF-5D5F-73DC-8488-3CEA7A8D8A31}"/>
              </a:ext>
            </a:extLst>
          </p:cNvPr>
          <p:cNvSpPr/>
          <p:nvPr/>
        </p:nvSpPr>
        <p:spPr>
          <a:xfrm>
            <a:off x="5742432" y="12893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59BC8C6-D1EF-640E-F333-C285266FB673}"/>
              </a:ext>
            </a:extLst>
          </p:cNvPr>
          <p:cNvSpPr/>
          <p:nvPr/>
        </p:nvSpPr>
        <p:spPr>
          <a:xfrm>
            <a:off x="5742432" y="1554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p=0.30 early, 0.15 deep</a:t>
            </a:r>
            <a:endParaRPr lang="en-US" sz="105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0F1E9295-5C0C-2CDD-B53C-0D1269D1702D}"/>
              </a:ext>
            </a:extLst>
          </p:cNvPr>
          <p:cNvSpPr/>
          <p:nvPr/>
        </p:nvSpPr>
        <p:spPr>
          <a:xfrm>
            <a:off x="5623560" y="1929384"/>
            <a:ext cx="3154680" cy="621792"/>
          </a:xfrm>
          <a:prstGeom prst="rect">
            <a:avLst/>
          </a:prstGeom>
          <a:solidFill>
            <a:srgbClr val="0D1F3C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60EEBC7-4DBA-8263-72EB-3C219E05B297}"/>
              </a:ext>
            </a:extLst>
          </p:cNvPr>
          <p:cNvSpPr/>
          <p:nvPr/>
        </p:nvSpPr>
        <p:spPr>
          <a:xfrm>
            <a:off x="5742432" y="19842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D418D03-509C-62A8-9764-0038EFF7E3A2}"/>
              </a:ext>
            </a:extLst>
          </p:cNvPr>
          <p:cNvSpPr/>
          <p:nvPr/>
        </p:nvSpPr>
        <p:spPr>
          <a:xfrm>
            <a:off x="5742432" y="22494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injection via mini-batch stats</a:t>
            </a:r>
            <a:endParaRPr lang="en-US" sz="10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A8F06B4-F8AB-9136-1296-420704445C0D}"/>
              </a:ext>
            </a:extLst>
          </p:cNvPr>
          <p:cNvSpPr/>
          <p:nvPr/>
        </p:nvSpPr>
        <p:spPr>
          <a:xfrm>
            <a:off x="5623560" y="2624328"/>
            <a:ext cx="3154680" cy="621792"/>
          </a:xfrm>
          <a:prstGeom prst="rect">
            <a:avLst/>
          </a:prstGeom>
          <a:solidFill>
            <a:srgbClr val="0D1F3C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B0CE49D-B637-A102-DBE5-8237FEA36EAD}"/>
              </a:ext>
            </a:extLst>
          </p:cNvPr>
          <p:cNvSpPr/>
          <p:nvPr/>
        </p:nvSpPr>
        <p:spPr>
          <a:xfrm>
            <a:off x="5742432" y="26791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755E42A-03E2-C06B-69D9-F02AE7DD2475}"/>
              </a:ext>
            </a:extLst>
          </p:cNvPr>
          <p:cNvSpPr/>
          <p:nvPr/>
        </p:nvSpPr>
        <p:spPr>
          <a:xfrm>
            <a:off x="5742432" y="29443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λ=1e-4 via AdamW</a:t>
            </a:r>
            <a:endParaRPr lang="en-US" sz="10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0EDA05A-1239-8CEA-7923-7A89F0D254A8}"/>
              </a:ext>
            </a:extLst>
          </p:cNvPr>
          <p:cNvSpPr/>
          <p:nvPr/>
        </p:nvSpPr>
        <p:spPr>
          <a:xfrm>
            <a:off x="5623560" y="3319272"/>
            <a:ext cx="3154680" cy="621792"/>
          </a:xfrm>
          <a:prstGeom prst="rect">
            <a:avLst/>
          </a:prstGeom>
          <a:solidFill>
            <a:srgbClr val="0D1F3C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BF97A4B-E828-F431-96EA-0EC27F0AF1C6}"/>
              </a:ext>
            </a:extLst>
          </p:cNvPr>
          <p:cNvSpPr/>
          <p:nvPr/>
        </p:nvSpPr>
        <p:spPr>
          <a:xfrm>
            <a:off x="5742432" y="33741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189B720-3E09-0E6A-3D7A-4B367B973FB0}"/>
              </a:ext>
            </a:extLst>
          </p:cNvPr>
          <p:cNvSpPr/>
          <p:nvPr/>
        </p:nvSpPr>
        <p:spPr>
          <a:xfrm>
            <a:off x="5742432" y="36393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Patience=7 on val AUC</a:t>
            </a:r>
            <a:endParaRPr lang="en-US" sz="10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2AE0EE0-91FA-D4F7-462D-1D385C970771}"/>
              </a:ext>
            </a:extLst>
          </p:cNvPr>
          <p:cNvSpPr/>
          <p:nvPr/>
        </p:nvSpPr>
        <p:spPr>
          <a:xfrm>
            <a:off x="5623560" y="4014216"/>
            <a:ext cx="3154680" cy="621792"/>
          </a:xfrm>
          <a:prstGeom prst="rect">
            <a:avLst/>
          </a:prstGeom>
          <a:solidFill>
            <a:srgbClr val="0D1F3C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064E599-0FD8-2BA1-E569-8F18DCC80934}"/>
              </a:ext>
            </a:extLst>
          </p:cNvPr>
          <p:cNvSpPr/>
          <p:nvPr/>
        </p:nvSpPr>
        <p:spPr>
          <a:xfrm>
            <a:off x="5742432" y="40690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Clipping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89FAF0D-C0C5-F892-B13D-3ECEFB474A30}"/>
              </a:ext>
            </a:extLst>
          </p:cNvPr>
          <p:cNvSpPr/>
          <p:nvPr/>
        </p:nvSpPr>
        <p:spPr>
          <a:xfrm>
            <a:off x="5742432" y="43342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max_norm=1.0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80838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inference on unseen transactions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212080" cy="34747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demo/demo.py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 model: models/dnn_fraud.pt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 1 |  ✅ LEGIT  | prob=0.0031 [░░░░░░░░░░░░░░░░░░░]  (True: LEGIT)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 2 |  🚨 FRAUD  | prob=0.9847 [█████████████████░░]  (True: FRAUD)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 3 |  ✅ LEGIT  | prob=0.0018 [░░░░░░░░░░░░░░░░░░░]  (True: LEGIT)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 4 |  🚨 FRAUD  | prob=0.9712 [████████████████░░░]  (True: FRAUD)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 5 |  ✅ LEGIT  | prob=0.0042 [░░░░░░░░░░░░░░░░░░░]  (True: LEGIT)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on demo samples: 19/20 (95.0%)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806440" y="1188720"/>
            <a:ext cx="2926080" cy="105156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70448" y="1444752"/>
            <a:ext cx="402336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70448" y="1444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129844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6459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DNN pipeline end-to-end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06440" y="2377440"/>
            <a:ext cx="2926080" cy="105156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70448" y="2633472"/>
            <a:ext cx="402336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70448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4871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8346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demo/demo.py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 saved .pt weights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3566160"/>
            <a:ext cx="2926080" cy="105156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70448" y="3822192"/>
            <a:ext cx="402336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70448" y="3822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67588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predictions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023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fraud/legit verdict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probability score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0644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needed — falls back to synthetic data automatically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D2A5C">
              <a:alpha val="80000"/>
            </a:srgbClr>
          </a:solidFill>
          <a:ln w="12700">
            <a:solidFill>
              <a:srgbClr val="0D2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321040" cy="658368"/>
          </a:xfrm>
          <a:prstGeom prst="rect">
            <a:avLst/>
          </a:prstGeom>
          <a:solidFill>
            <a:srgbClr val="0D1F3C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179576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114300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DNN with GELU + BatchNorm captures non-linear fraud patterns that classical models miss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8321040" cy="658368"/>
          </a:xfrm>
          <a:prstGeom prst="rect">
            <a:avLst/>
          </a:prstGeom>
          <a:solidFill>
            <a:srgbClr val="0D1F3C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92938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89280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3-strategy imbalance handling (SMOTE + weighted loss + sampler) is critical — none alone is sufficient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8321040" cy="658368"/>
          </a:xfrm>
          <a:prstGeom prst="rect">
            <a:avLst/>
          </a:prstGeom>
          <a:solidFill>
            <a:srgbClr val="0D1F3C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67919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264261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Cosine Annealing + Early Stopping ensures stable convergence without overfitting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00984"/>
            <a:ext cx="8321040" cy="658368"/>
          </a:xfrm>
          <a:prstGeom prst="rect">
            <a:avLst/>
          </a:prstGeom>
          <a:solidFill>
            <a:srgbClr val="0D1F3C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42900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339242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0.99+ and F1 0.96+ vs best baseline (Random Forest) 0.95 / 0.84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050792"/>
            <a:ext cx="8321040" cy="658368"/>
          </a:xfrm>
          <a:prstGeom prst="rect">
            <a:avLst/>
          </a:prstGeom>
          <a:solidFill>
            <a:srgbClr val="0D1F3C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4178808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414223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runs in seconds: python demo/demo.py — no dataset required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911</Words>
  <Application>Microsoft Office PowerPoint</Application>
  <PresentationFormat>On-screen Show (16:9)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- Person B</dc:title>
  <dc:subject>PptxGenJS Presentation</dc:subject>
  <dc:creator>PptxGenJS</dc:creator>
  <cp:lastModifiedBy>youssef serry</cp:lastModifiedBy>
  <cp:revision>3</cp:revision>
  <dcterms:created xsi:type="dcterms:W3CDTF">2026-05-14T08:18:41Z</dcterms:created>
  <dcterms:modified xsi:type="dcterms:W3CDTF">2026-05-14T12:24:50Z</dcterms:modified>
</cp:coreProperties>
</file>